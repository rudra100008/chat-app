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5" r:id="rId18"/>
    <p:sldId id="272" r:id="rId19"/>
    <p:sldId id="286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7" r:id="rId28"/>
    <p:sldId id="288" r:id="rId29"/>
    <p:sldId id="281" r:id="rId30"/>
    <p:sldId id="280" r:id="rId31"/>
    <p:sldId id="289" r:id="rId32"/>
    <p:sldId id="290" r:id="rId33"/>
    <p:sldId id="291" r:id="rId34"/>
    <p:sldId id="282" r:id="rId35"/>
    <p:sldId id="292" r:id="rId36"/>
    <p:sldId id="284" r:id="rId37"/>
  </p:sldIdLst>
  <p:sldSz cx="12192000" cy="6858000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Garamond" panose="02020404030301010803" pitchFamily="18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gvVVMKJQMyXUFDWweMPvdhNBqW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3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34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39" name="Google Shape;39;p34" descr="HD-PanelTitle-V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40;p3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" name="Google Shape;41;p3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3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34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3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5" name="Google Shape;55;p35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3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7"/>
          <p:cNvSpPr txBox="1">
            <a:spLocks noGrp="1"/>
          </p:cNvSpPr>
          <p:nvPr>
            <p:ph type="body" idx="3"/>
          </p:nvPr>
        </p:nvSpPr>
        <p:spPr>
          <a:xfrm>
            <a:off x="6180671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body" idx="4"/>
          </p:nvPr>
        </p:nvSpPr>
        <p:spPr>
          <a:xfrm>
            <a:off x="6180671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3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3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3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9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0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40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4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1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1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41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2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2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4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8" name="Google Shape;108;p4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4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17" name="Google Shape;117;p43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18" name="Google Shape;118;p4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4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4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7" name="Google Shape;127;p44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8" name="Google Shape;128;p44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5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45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4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6" name="Google Shape;136;p4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6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4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3" name="Google Shape;143;p4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7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7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4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0" name="Google Shape;150;p47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11" name="Google Shape;11;p30" descr="HD-PanelContent-V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30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" name="Google Shape;13;p30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30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3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>
            <a:spLocks noGrp="1"/>
          </p:cNvSpPr>
          <p:nvPr>
            <p:ph type="title"/>
          </p:nvPr>
        </p:nvSpPr>
        <p:spPr>
          <a:xfrm>
            <a:off x="3882268" y="1849058"/>
            <a:ext cx="44822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aramond"/>
              <a:buNone/>
            </a:pPr>
            <a:r>
              <a:rPr lang="en-US" sz="4000"/>
              <a:t>Data Preprocessing</a:t>
            </a:r>
            <a:endParaRPr sz="4000"/>
          </a:p>
        </p:txBody>
      </p:sp>
      <p:sp>
        <p:nvSpPr>
          <p:cNvPr id="156" name="Google Shape;156;p1"/>
          <p:cNvSpPr txBox="1">
            <a:spLocks noGrp="1"/>
          </p:cNvSpPr>
          <p:nvPr>
            <p:ph type="body" idx="1"/>
          </p:nvPr>
        </p:nvSpPr>
        <p:spPr>
          <a:xfrm>
            <a:off x="4872110" y="3317858"/>
            <a:ext cx="1805173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220"/>
              <a:buNone/>
            </a:pPr>
            <a:r>
              <a:rPr lang="en-US" sz="2800"/>
              <a:t>Chapter - 2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Attribute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200" cy="3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attribute is a property or characteristics of an object.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 is also known as variable, field, characteristic, or feature.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collection of attributes describe an object. Object is also known as record, point, case, sample, entity, or instance. 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eye color of a person, temperature.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Types of Attribute In 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"/>
          <p:cNvSpPr txBox="1">
            <a:spLocks noGrp="1"/>
          </p:cNvSpPr>
          <p:nvPr>
            <p:ph type="body" idx="1"/>
          </p:nvPr>
        </p:nvSpPr>
        <p:spPr>
          <a:xfrm>
            <a:off x="1295401" y="2556931"/>
            <a:ext cx="9601196" cy="348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Nominal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values of a nominal attribute are just different names.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category, code or state, also called categorial attribute.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ID number, eye color.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Ordinal 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values of ordinal attribute provide enough information to order or rank objects.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street number, grades.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Types of Attribute In 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Interval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interval attributes, the difference between values are meaningful.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Calendar dates, temperature in Celsius or Fahrenheit. 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ratio variables, both difference and ratios are meaningful. 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mass, age, length.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Dimensional Data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 data, often referred to as multidimensional data, is a type of data representation used in various fields, including data analysis, business intelligence, and data warehousing.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Dimensional data models are designed to efficiently organize and analyze data with multiple attributes or dimensions. 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approach is particularly useful for understanding complex relationships within the data and facilitating reporting and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Curse of Dimensionality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6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curse of dimensionality refers to various problems and challenges that arise when working with high-dimensional data.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Sparsity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Overfitting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Computation Cost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avoid it ?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b="1" u="sng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</a:t>
            </a:r>
            <a:r>
              <a:rPr lang="en-US" b="1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Carefully select relevant features while discarding irrelevant or redundant ones. Feature selection techniques can help reduce the dimensionality of the data while preserving essential information.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Curse of Dimensionality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7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b="1" u="sng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 Reduction</a:t>
            </a:r>
            <a:r>
              <a:rPr lang="en-US" b="1" dirty="0">
                <a:solidFill>
                  <a:srgbClr val="92D050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dimensionality reduction techniques like Principal Component Analysis (PCA) to project high-dimensional data into a lower-dimensional space while preserving as much variance or structure as possible.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002060"/>
                </a:solidFill>
                <a:latin typeface="Times New Roman"/>
                <a:cs typeface="Times New Roman"/>
                <a:sym typeface="Times New Roman"/>
              </a:rPr>
              <a:t>It is easy to find pattern in 1D or 2D rather than 50D, as the data gets scattered so far apart.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b="1" u="sng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r>
              <a:rPr lang="en-US" b="1" dirty="0">
                <a:solidFill>
                  <a:srgbClr val="92D050"/>
                </a:solidFill>
              </a:rPr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or scale your data appropriately. </a:t>
            </a: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How can Principle Component Analysis (PCA) Be Used For Dimensionality Reduction?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is to find a projection that captures the largest amount of variation in data.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Eigen vectors of the co variance matrix.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Eigen vectors define the new space.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a neighborhood graph. 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pair of points in the graph, compute the shortest path distance.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Data Quality &amp;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9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world data are highly unprotected from noise, missing, and inconsistent data due to typically huge size and their possible origin from multiple heterogeneous sources.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quality data will lead to low quality mining results.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Arial"/>
              <a:buChar char="•"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 is required to handle these facts.</a:t>
            </a:r>
            <a:endParaRPr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0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Transformation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Discretization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Cleaning: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n-US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Mostly concern with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14350" lvl="0" indent="-514350" algn="l" rtl="0">
              <a:spcBef>
                <a:spcPts val="1080"/>
              </a:spcBef>
              <a:spcAft>
                <a:spcPts val="0"/>
              </a:spcAft>
              <a:buSzPts val="276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 in missing values</a:t>
            </a:r>
            <a:endParaRPr/>
          </a:p>
          <a:p>
            <a:pPr marL="514350" lvl="0" indent="-514350" algn="l" rtl="0">
              <a:spcBef>
                <a:spcPts val="1080"/>
              </a:spcBef>
              <a:spcAft>
                <a:spcPts val="0"/>
              </a:spcAft>
              <a:buSzPts val="276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outliers and smooth out noisy data</a:t>
            </a:r>
            <a:endParaRPr/>
          </a:p>
          <a:p>
            <a:pPr marL="514350" lvl="0" indent="-514350" algn="l" rtl="0">
              <a:spcBef>
                <a:spcPts val="1080"/>
              </a:spcBef>
              <a:spcAft>
                <a:spcPts val="0"/>
              </a:spcAft>
              <a:buSzPts val="276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inconsistent data</a:t>
            </a:r>
            <a:endParaRPr/>
          </a:p>
          <a:p>
            <a:pPr marL="514350" lvl="0" indent="-514350" algn="l" rtl="0">
              <a:spcBef>
                <a:spcPts val="1080"/>
              </a:spcBef>
              <a:spcAft>
                <a:spcPts val="0"/>
              </a:spcAft>
              <a:buSzPts val="276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 duplicate data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⮚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 in missing values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data may be due to equipment malfunction, data not entered due to misunderstanding.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u="sng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handle it by</a:t>
            </a: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Ignore the tuple, fill in missing value manually, use the most probable value, use ta global constant to fill in missing values, use a mean attribute, etc.</a:t>
            </a:r>
            <a:endParaRPr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⮚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Noisy data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Noisy data is a form of error because of random error in a measured variable.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entry problem, </a:t>
            </a:r>
            <a:r>
              <a:rPr lang="en-US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Technology limitation</a:t>
            </a:r>
            <a:endParaRPr dirty="0">
              <a:solidFill>
                <a:srgbClr val="00B050"/>
              </a:solidFill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u="sng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handle it by: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Clustering: Detect and remove outliers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Regression: Smooth by fitting the data into regression function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Binning Method: First sort the data and partition into different boundaries with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mean, median values</a:t>
            </a:r>
            <a:endParaRPr lang="en-US" u="sng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⮚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Outliers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Outliers are a set of data points that are considerably dissimilar with the remaining data.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change in system behavior, E</a:t>
            </a:r>
            <a:r>
              <a:rPr lang="en-US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rror in data transmission or transcription</a:t>
            </a:r>
            <a:endParaRPr lang="en-US" dirty="0">
              <a:solidFill>
                <a:srgbClr val="00B050"/>
              </a:solidFill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 u="sng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handle it by</a:t>
            </a:r>
            <a:r>
              <a:rPr lang="en-US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Model with normality and abnormality. </a:t>
            </a:r>
            <a:r>
              <a:rPr lang="en-US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Analogous to supervised learning</a:t>
            </a:r>
            <a:endParaRPr lang="en-US" dirty="0">
              <a:solidFill>
                <a:srgbClr val="00B050"/>
              </a:solidFill>
            </a:endParaRPr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Font typeface="Noto Sans Symbols"/>
              <a:buChar char="❑"/>
            </a:pPr>
            <a:r>
              <a:rPr lang="en-US" u="sng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Integration: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data from multiple sources into a coherent store.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14350" lvl="0" indent="-514350" algn="l" rtl="0">
              <a:spcBef>
                <a:spcPts val="1044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Identification problem</a:t>
            </a:r>
            <a:endParaRPr/>
          </a:p>
          <a:p>
            <a:pPr marL="514350" lvl="0" indent="-514350" algn="l" rtl="0">
              <a:spcBef>
                <a:spcPts val="1044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Redundancy (same piece of data in multiple place)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1044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correlation analysis.</a:t>
            </a:r>
            <a:endParaRPr/>
          </a:p>
          <a:p>
            <a:pPr marL="514350" lvl="0" indent="-514350" algn="l" rtl="0">
              <a:spcBef>
                <a:spcPts val="1044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stepwise and careful integration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6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Font typeface="Noto Sans Symbols"/>
              <a:buChar char="❑"/>
            </a:pPr>
            <a:r>
              <a:rPr lang="en-US" u="sng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Transformation:</a:t>
            </a:r>
            <a:endParaRPr/>
          </a:p>
          <a:p>
            <a:pPr marL="0" lvl="0" indent="0" algn="l" rtl="0">
              <a:spcBef>
                <a:spcPts val="1008"/>
              </a:spcBef>
              <a:spcAft>
                <a:spcPts val="0"/>
              </a:spcAft>
              <a:buSzPct val="115000"/>
              <a:buNone/>
            </a:pPr>
            <a:r>
              <a:rPr lang="en-US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data from one form to another form.</a:t>
            </a:r>
            <a:endParaRPr/>
          </a:p>
          <a:p>
            <a:pPr marL="0" lvl="0" indent="0" algn="l" rtl="0">
              <a:spcBef>
                <a:spcPts val="1008"/>
              </a:spcBef>
              <a:spcAft>
                <a:spcPts val="0"/>
              </a:spcAft>
              <a:buSzPct val="115000"/>
              <a:buNone/>
            </a:pPr>
            <a:r>
              <a:rPr lang="en-US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Approaches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14350" lvl="0" indent="-514350" algn="l" rtl="0">
              <a:spcBef>
                <a:spcPts val="1008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Smoothing: </a:t>
            </a: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noise from data.</a:t>
            </a:r>
            <a:endParaRPr/>
          </a:p>
          <a:p>
            <a:pPr marL="514350" lvl="0" indent="-514350" algn="l" rtl="0">
              <a:spcBef>
                <a:spcPts val="1008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Aggregation: </a:t>
            </a: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Summarization of data. (combining two or more attributes or objects)</a:t>
            </a:r>
            <a:endParaRPr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spcBef>
                <a:spcPts val="1008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Generalization: </a:t>
            </a: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Hierarchy climbing of data.</a:t>
            </a:r>
            <a:endParaRPr/>
          </a:p>
          <a:p>
            <a:pPr marL="514350" lvl="0" indent="-514350" algn="l" rtl="0">
              <a:spcBef>
                <a:spcPts val="1008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 : </a:t>
            </a: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Scaled to fall within a small specified range. a) Min Max Normalization, b) Z Score Normalization, c) Normalization by decimal scaling </a:t>
            </a:r>
            <a:endParaRPr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29E0-CB18-43CB-A563-6D1EE6FD1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24718-5D6E-4BEF-A4C2-44CBBEEF9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</a:rPr>
              <a:t>1. </a:t>
            </a:r>
            <a:r>
              <a:rPr lang="en-US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Min-Max Normalization:</a:t>
            </a:r>
            <a:br>
              <a:rPr lang="en-US" dirty="0"/>
            </a:br>
            <a:r>
              <a:rPr lang="en-US" b="0" i="0" dirty="0">
                <a:effectLst/>
                <a:latin typeface="Times New Roman" panose="02020603050405020304" pitchFamily="18" charset="0"/>
              </a:rPr>
              <a:t>V’ =  ((V-min)/(max-min)* (</a:t>
            </a:r>
            <a:r>
              <a:rPr lang="en-US" b="0" i="0" dirty="0" err="1">
                <a:effectLst/>
                <a:latin typeface="Times New Roman" panose="02020603050405020304" pitchFamily="18" charset="0"/>
              </a:rPr>
              <a:t>new_max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 – </a:t>
            </a:r>
            <a:r>
              <a:rPr lang="en-US" b="0" i="0" dirty="0" err="1">
                <a:effectLst/>
                <a:latin typeface="Times New Roman" panose="02020603050405020304" pitchFamily="18" charset="0"/>
              </a:rPr>
              <a:t>new_min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)) + </a:t>
            </a:r>
            <a:r>
              <a:rPr lang="en-US" b="0" i="0" dirty="0" err="1">
                <a:effectLst/>
                <a:latin typeface="Times New Roman" panose="02020603050405020304" pitchFamily="18" charset="0"/>
              </a:rPr>
              <a:t>new_min</a:t>
            </a:r>
            <a:endParaRPr lang="en-US" b="0" i="0" dirty="0">
              <a:effectLst/>
              <a:latin typeface="Times New Roman" panose="02020603050405020304" pitchFamily="18" charset="0"/>
            </a:endParaRPr>
          </a:p>
          <a:p>
            <a:pPr marL="97155" indent="0">
              <a:buNone/>
            </a:pPr>
            <a:endParaRPr lang="en-US" b="0" i="0" dirty="0">
              <a:effectLst/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2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Z-Score Normalization:</a:t>
            </a:r>
            <a:br>
              <a:rPr lang="en-US" dirty="0"/>
            </a:br>
            <a:r>
              <a:rPr lang="en-US" b="0" i="0" dirty="0">
                <a:effectLst/>
                <a:latin typeface="Times New Roman" panose="02020603050405020304" pitchFamily="18" charset="0"/>
              </a:rPr>
              <a:t>V’ = (V-min)/ </a:t>
            </a:r>
            <a:r>
              <a:rPr lang="en-US" b="0" i="0" dirty="0" err="1">
                <a:effectLst/>
                <a:latin typeface="Times New Roman" panose="02020603050405020304" pitchFamily="18" charset="0"/>
              </a:rPr>
              <a:t>stand_dev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.</a:t>
            </a:r>
          </a:p>
          <a:p>
            <a:pPr marL="97155" indent="0">
              <a:buNone/>
            </a:pPr>
            <a:endParaRPr lang="en-US" b="0" i="0" dirty="0">
              <a:effectLst/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3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</a:rPr>
              <a:t>Normalization by decimal scaling:</a:t>
            </a:r>
            <a:br>
              <a:rPr lang="en-US" dirty="0"/>
            </a:br>
            <a:r>
              <a:rPr lang="en-US" b="0" i="0" dirty="0">
                <a:effectLst/>
                <a:latin typeface="Times New Roman" panose="02020603050405020304" pitchFamily="18" charset="0"/>
              </a:rPr>
              <a:t>V’= V/ 10j where j is the smallest integer such that max (|V’|) &lt;1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191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7"/>
          <p:cNvSpPr txBox="1">
            <a:spLocks noGrp="1"/>
          </p:cNvSpPr>
          <p:nvPr>
            <p:ph type="body" idx="1"/>
          </p:nvPr>
        </p:nvSpPr>
        <p:spPr>
          <a:xfrm>
            <a:off x="1464295" y="2462664"/>
            <a:ext cx="9432302" cy="3627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Font typeface="Noto Sans Symbols"/>
              <a:buChar char="❑"/>
            </a:pPr>
            <a:r>
              <a:rPr lang="en-US" u="sng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Reduction:</a:t>
            </a:r>
            <a:endParaRPr dirty="0"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 is the process of obtaining a reduced representation of data set that is much smaller in volume but yet produces the same or almost same analytical results.</a:t>
            </a:r>
            <a:endParaRPr dirty="0"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u="sng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r>
              <a:rPr lang="en-US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Sampling: </a:t>
            </a:r>
            <a:r>
              <a:rPr lang="en-US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for data selection. (simple random sampling, sampling without replacement, sampling with replacement)</a:t>
            </a:r>
          </a:p>
          <a:p>
            <a:pPr marL="514350" indent="-514350">
              <a:spcBef>
                <a:spcPts val="1044"/>
              </a:spcBef>
              <a:buSzPct val="115000"/>
            </a:pPr>
            <a:r>
              <a:rPr lang="en-US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</a:rPr>
              <a:t>Simple Random Sampling: 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Equal probability of selecting any particular item.</a:t>
            </a:r>
          </a:p>
          <a:p>
            <a:pPr marL="514350" indent="-514350">
              <a:spcBef>
                <a:spcPts val="1044"/>
              </a:spcBef>
              <a:buSzPct val="115000"/>
            </a:pPr>
            <a:r>
              <a:rPr lang="en-US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</a:rPr>
              <a:t>Sampling without replacement: 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As each item is selected, it is removed from</a:t>
            </a:r>
            <a:br>
              <a:rPr lang="en-US" dirty="0"/>
            </a:br>
            <a:r>
              <a:rPr lang="en-US" b="0" i="0" dirty="0">
                <a:effectLst/>
                <a:latin typeface="Times New Roman" panose="02020603050405020304" pitchFamily="18" charset="0"/>
              </a:rPr>
              <a:t>population.</a:t>
            </a:r>
          </a:p>
          <a:p>
            <a:pPr marL="514350" indent="-514350">
              <a:spcBef>
                <a:spcPts val="1044"/>
              </a:spcBef>
              <a:buSzPct val="115000"/>
            </a:pPr>
            <a:r>
              <a:rPr lang="en-US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</a:rPr>
              <a:t>Sampling with replacement: 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Objects are not removed from the population as they</a:t>
            </a:r>
            <a:br>
              <a:rPr lang="en-US" dirty="0"/>
            </a:br>
            <a:r>
              <a:rPr lang="en-US" b="0" i="0" dirty="0">
                <a:effectLst/>
                <a:latin typeface="Times New Roman" panose="02020603050405020304" pitchFamily="18" charset="0"/>
              </a:rPr>
              <a:t>are selected from the sample. The same objects can be picked-up more than once.</a:t>
            </a:r>
          </a:p>
          <a:p>
            <a:pPr marL="514350" indent="-514350">
              <a:spcBef>
                <a:spcPts val="1044"/>
              </a:spcBef>
              <a:buSzPct val="115000"/>
            </a:pPr>
            <a:r>
              <a:rPr lang="en-US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</a:rPr>
              <a:t>Stratified Sampling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: Split the data into several partitions, then draw random</a:t>
            </a:r>
            <a:br>
              <a:rPr lang="en-US" dirty="0"/>
            </a:br>
            <a:r>
              <a:rPr lang="en-US" b="0" i="0" dirty="0">
                <a:effectLst/>
                <a:latin typeface="Times New Roman" panose="02020603050405020304" pitchFamily="18" charset="0"/>
              </a:rPr>
              <a:t>samples from each partition.</a:t>
            </a:r>
            <a:endParaRPr lang="en-US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D86F-89E3-4C7E-BF23-68FD287D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D0733-8541-477C-89F1-C2CDF6739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Dimensionality Reduction:</a:t>
            </a:r>
          </a:p>
          <a:p>
            <a:pPr marL="342900" indent="-342900">
              <a:spcBef>
                <a:spcPts val="1044"/>
              </a:spcBef>
              <a:buSzPct val="115000"/>
            </a:pPr>
            <a:r>
              <a:rPr lang="en-US" b="0" i="0" dirty="0">
                <a:effectLst/>
                <a:latin typeface="Times New Roman" panose="02020603050405020304" pitchFamily="18" charset="0"/>
              </a:rPr>
              <a:t>Dimensionality Reduction is about converting data of very high dimensionality into data of much lower dimensionality such that each of the lower dimension conveys much more information.</a:t>
            </a:r>
            <a:endParaRPr lang="en-US" dirty="0"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Data Compression</a:t>
            </a:r>
            <a:endParaRPr lang="en-US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9858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>
            <a:spLocks noGrp="1"/>
          </p:cNvSpPr>
          <p:nvPr>
            <p:ph type="title"/>
          </p:nvPr>
        </p:nvSpPr>
        <p:spPr>
          <a:xfrm>
            <a:off x="1295402" y="903004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Methods of Data Preprocessing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Font typeface="Noto Sans Symbols"/>
              <a:buChar char="❑"/>
            </a:pPr>
            <a:r>
              <a:rPr lang="en-US" u="sng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Discretization:</a:t>
            </a:r>
            <a:endParaRPr/>
          </a:p>
          <a:p>
            <a:pPr marL="285750" lvl="0" indent="-285750" algn="l" rtl="0">
              <a:spcBef>
                <a:spcPts val="1044"/>
              </a:spcBef>
              <a:spcAft>
                <a:spcPts val="0"/>
              </a:spcAft>
              <a:buSzPct val="115000"/>
              <a:buFont typeface="Noto Sans Symbols"/>
              <a:buChar char="⮚"/>
            </a:pPr>
            <a:r>
              <a:rPr lang="en-US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continuous data into discrete data.</a:t>
            </a:r>
            <a:endParaRPr/>
          </a:p>
          <a:p>
            <a:pPr marL="285750" lvl="0" indent="-285750" algn="l" rtl="0">
              <a:spcBef>
                <a:spcPts val="1044"/>
              </a:spcBef>
              <a:spcAft>
                <a:spcPts val="0"/>
              </a:spcAft>
              <a:buSzPct val="115000"/>
              <a:buFont typeface="Noto Sans Symbols"/>
              <a:buChar char="⮚"/>
            </a:pPr>
            <a:r>
              <a:rPr lang="en-US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 data into different classes.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n-US" u="sng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Approaches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14350" lvl="0" indent="-514350" algn="l" rtl="0">
              <a:spcBef>
                <a:spcPts val="1044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Distance Partitioning : </a:t>
            </a: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divides the range into N intervals of equal size. ( W = (A-B)/N )  </a:t>
            </a:r>
            <a:endParaRPr/>
          </a:p>
          <a:p>
            <a:pPr marL="514350" lvl="0" indent="-514350" algn="l" rtl="0">
              <a:spcBef>
                <a:spcPts val="1044"/>
              </a:spcBef>
              <a:spcAft>
                <a:spcPts val="0"/>
              </a:spcAft>
              <a:buSzPct val="115000"/>
              <a:buAutoNum type="romanLcParenR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Frequency Partitioning : </a:t>
            </a: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divides the range into N intervals, each containing approximately same number of samples.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OLAP TOOL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9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OLAP stands for Online Analytical Processing.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OLAP cube is a data structure that allows fast analysis of data.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OLAP tools were developed to solve multi dimensional data analysis which stores their data in a special multi dimensional format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(Data Cube).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Cuboid contains all three dimensions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Apex Cuboid refers to the case where the group by is empty.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OLAP Operation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4107" y="2688353"/>
            <a:ext cx="4727194" cy="287829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OLAP Operation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Slicing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enables an analyst to selects a single value for one dimension of the data cube.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in a sub-cube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E.g. Product A sales</a:t>
            </a:r>
            <a:endParaRPr lang="en-US"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Dicing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allows an analyst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elects data from the cube by specifying values for multiple dimensions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E.g. Product A sales in 2004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OLAP Operation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2"/>
          <p:cNvSpPr txBox="1">
            <a:spLocks noGrp="1"/>
          </p:cNvSpPr>
          <p:nvPr>
            <p:ph type="body" idx="1"/>
          </p:nvPr>
        </p:nvSpPr>
        <p:spPr>
          <a:xfrm>
            <a:off x="1295402" y="24807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Drill-Down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allows analysts to navigate deeper among the dimensions of data. E.g. Product A sales in Chicago in 2004.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level of detail.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Up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operation summarizes the data along the dimension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E.g. Total Product.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detail and shows more general information.</a:t>
            </a:r>
            <a:endParaRPr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OLAP Operation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Pivoting</a:t>
            </a:r>
            <a:r>
              <a:rPr lang="en-US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Analysts can gain a new view of data by rotating the data axes of the cube.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rows and columns.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OLAP Vs OLTP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4950" y="2751922"/>
            <a:ext cx="9381648" cy="255863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EEA7-3E1C-49A3-A2D9-E77E4ADB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Data Warehousing - Schemas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372EB-B300-419E-9693-A8CC8D50B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Schema is a logical description of the entire database.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It includes the name and description of records of all record types including all associated data-items and aggregates.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Much like a database, a data warehouse also requires to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maintain a schema.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A database uses relational model, while a data warehouse uses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Star, Snowflake, and Fact Constellation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252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6BEF-37A1-47B4-9EBF-0EC78CF1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Star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80C4D-3E98-4A9D-8C5C-91141175C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Each dimension in a star schema is represented with only one-</a:t>
            </a:r>
            <a:br>
              <a:rPr lang="en-US" b="0" i="0" dirty="0">
                <a:solidFill>
                  <a:srgbClr val="0A0A0A"/>
                </a:solidFill>
                <a:effectLst/>
                <a:latin typeface="Inter var"/>
              </a:rPr>
            </a:br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dimension table.</a:t>
            </a:r>
            <a:endParaRPr lang="en-US" dirty="0">
              <a:solidFill>
                <a:srgbClr val="0A0A0A"/>
              </a:solidFill>
              <a:latin typeface="Inter var"/>
            </a:endParaRPr>
          </a:p>
          <a:p>
            <a:pPr algn="l"/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This dimension table contains the set of attributes.</a:t>
            </a:r>
            <a:endParaRPr lang="en-US" dirty="0">
              <a:solidFill>
                <a:srgbClr val="0A0A0A"/>
              </a:solidFill>
              <a:latin typeface="Inter var"/>
            </a:endParaRPr>
          </a:p>
          <a:p>
            <a:pPr algn="l"/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The following diagram shows the sales data of a company with</a:t>
            </a:r>
            <a:br>
              <a:rPr lang="en-US" b="0" i="0" dirty="0">
                <a:solidFill>
                  <a:srgbClr val="0A0A0A"/>
                </a:solidFill>
                <a:effectLst/>
                <a:latin typeface="Inter var"/>
              </a:rPr>
            </a:br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respect to the four dimensions, namely time, item, branch, and</a:t>
            </a:r>
            <a:br>
              <a:rPr lang="en-US" b="0" i="0" dirty="0">
                <a:solidFill>
                  <a:srgbClr val="0A0A0A"/>
                </a:solidFill>
                <a:effectLst/>
                <a:latin typeface="Inter var"/>
              </a:rPr>
            </a:br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location.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207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Star Scheme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E0DA6-2C5A-4343-AA10-EBBDBE93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3" y="1992724"/>
            <a:ext cx="9471658" cy="42175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Snowflake Scheme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  <a:buSzPts val="2760"/>
            </a:pPr>
            <a:r>
              <a:rPr lang="en-US" b="0" i="0" dirty="0">
                <a:effectLst/>
                <a:latin typeface="Arial" panose="020B0604020202020204" pitchFamily="34" charset="0"/>
              </a:rPr>
              <a:t>Some dimension tables in the Snowflake schema are normalized.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en-US" b="0" i="0" dirty="0">
                <a:effectLst/>
                <a:latin typeface="Arial" panose="020B0604020202020204" pitchFamily="34" charset="0"/>
              </a:rPr>
              <a:t>The normalization splits up the data into additional tables.</a:t>
            </a:r>
          </a:p>
          <a:p>
            <a:pPr marL="342900" indent="-342900">
              <a:spcBef>
                <a:spcPts val="0"/>
              </a:spcBef>
              <a:buSzPts val="2760"/>
            </a:pPr>
            <a:r>
              <a:rPr lang="en-US" b="0" i="0" dirty="0">
                <a:effectLst/>
                <a:latin typeface="Arial" panose="020B0604020202020204" pitchFamily="34" charset="0"/>
              </a:rPr>
              <a:t>Unlike Star schema, the dimensions table in a snowflake schema are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0" i="0" dirty="0">
                <a:effectLst/>
                <a:latin typeface="Arial" panose="020B0604020202020204" pitchFamily="34" charset="0"/>
              </a:rPr>
              <a:t>normalized. For example, the item dimension table in star schema is normalized and split into two dimension tables, namely item and supplier table.</a:t>
            </a:r>
            <a:endParaRPr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BBC2B-DBE7-4DC3-8E14-5F4FC7F6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Snowflake Scheme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8F010-16FE-4CEB-8E25-6194F8D0E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B61E8F-201A-43AE-87E7-FCCB44A1C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888148"/>
            <a:ext cx="9747412" cy="40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06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D5CD-E7A4-47C3-B555-DE56E0A3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Fact Constellation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6A52-FBBC-4E14-8D26-8DE8F186A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 fact constellation has multiple fact tables. It is also known as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galaxy schema.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The following diagram shows two fact tables, namely sales and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shipping.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907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CB28-8357-4A99-81C2-027D3467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Fact Constellation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6E552-D7DE-4316-9748-7A5CBF0E7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E76ED-E612-41DB-9656-76393A98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" y="1957743"/>
            <a:ext cx="9936480" cy="423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75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>
            <a:spLocks noGrp="1"/>
          </p:cNvSpPr>
          <p:nvPr>
            <p:ph type="title"/>
          </p:nvPr>
        </p:nvSpPr>
        <p:spPr>
          <a:xfrm>
            <a:off x="1295401" y="89069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Similarity &amp; Dissimilarity</a:t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(how close or how far apart data objects are in a dataset)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7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Similarity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Numerical measure of how alike two data objects are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 indicates dissimilar and 1 indicates similar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Group similar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Suggest items similar to what the user likes.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Rank documents by relevance to a query.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None/>
            </a:pPr>
            <a:endParaRPr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F93F-6A13-4EAE-923D-DCD74F92B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Similarity &amp; Dissimilarity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21B36-E885-44EC-9CC7-D9EED725B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❑"/>
            </a:pP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Dissimilarity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Numerical measure of how different are two data objects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 indicates similar 1 indicates dissimilar</a:t>
            </a: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Font typeface="Noto Sans Symbols"/>
              <a:buChar char="▪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objects that are very dissimilar (outliers).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Separate objects that are far apart.</a:t>
            </a:r>
          </a:p>
          <a:p>
            <a:pPr marL="97155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457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9" descr="File:Thank-you-transparent.sv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8782" y="546481"/>
            <a:ext cx="5422519" cy="542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1713</Words>
  <Application>Microsoft Office PowerPoint</Application>
  <PresentationFormat>Widescreen</PresentationFormat>
  <Paragraphs>177</Paragraphs>
  <Slides>36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Garamond</vt:lpstr>
      <vt:lpstr>Times New Roman</vt:lpstr>
      <vt:lpstr>Noto Sans Symbols</vt:lpstr>
      <vt:lpstr>Calibri</vt:lpstr>
      <vt:lpstr>Inter var</vt:lpstr>
      <vt:lpstr>Organic</vt:lpstr>
      <vt:lpstr>Data Preprocessing</vt:lpstr>
      <vt:lpstr>Attribute</vt:lpstr>
      <vt:lpstr>Types of Attribute In Dataset</vt:lpstr>
      <vt:lpstr>Types of Attribute In Dataset</vt:lpstr>
      <vt:lpstr>Dimensional Data</vt:lpstr>
      <vt:lpstr>Curse of Dimensionality</vt:lpstr>
      <vt:lpstr>Curse of Dimensionality</vt:lpstr>
      <vt:lpstr>How can Principle Component Analysis (PCA) Be Used For Dimensionality Reduction?</vt:lpstr>
      <vt:lpstr>Data Quality &amp; Data Preprocessing</vt:lpstr>
      <vt:lpstr>Methods of Data Preprocessing</vt:lpstr>
      <vt:lpstr>Methods of Data Preprocessing</vt:lpstr>
      <vt:lpstr>Methods of Data Preprocessing</vt:lpstr>
      <vt:lpstr>Methods of Data Preprocessing</vt:lpstr>
      <vt:lpstr>Methods of Data Preprocessing</vt:lpstr>
      <vt:lpstr>Methods of Data Preprocessing</vt:lpstr>
      <vt:lpstr>Methods of Data Preprocessing</vt:lpstr>
      <vt:lpstr>Normalization</vt:lpstr>
      <vt:lpstr>Methods of Data Preprocessing</vt:lpstr>
      <vt:lpstr>Methods of Data Preprocessing</vt:lpstr>
      <vt:lpstr>Methods of Data Preprocessing</vt:lpstr>
      <vt:lpstr>OLAP TOOL</vt:lpstr>
      <vt:lpstr>OLAP Operation</vt:lpstr>
      <vt:lpstr>OLAP Operation</vt:lpstr>
      <vt:lpstr>OLAP Operation</vt:lpstr>
      <vt:lpstr>OLAP Operation</vt:lpstr>
      <vt:lpstr>OLAP Vs OLTP</vt:lpstr>
      <vt:lpstr>Data Warehousing - Schemas</vt:lpstr>
      <vt:lpstr>Star Schema</vt:lpstr>
      <vt:lpstr>Star Scheme</vt:lpstr>
      <vt:lpstr>Snowflake Scheme</vt:lpstr>
      <vt:lpstr>Snowflake Scheme</vt:lpstr>
      <vt:lpstr>Fact Constellation Schema</vt:lpstr>
      <vt:lpstr>Fact Constellation Schema</vt:lpstr>
      <vt:lpstr>Similarity &amp; Dissimilarity (how close or how far apart data objects are in a dataset)</vt:lpstr>
      <vt:lpstr>Similarity &amp; Dissimilarity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</dc:title>
  <dc:creator>LEVONO</dc:creator>
  <cp:lastModifiedBy>Sumee Adhikari</cp:lastModifiedBy>
  <cp:revision>8</cp:revision>
  <dcterms:created xsi:type="dcterms:W3CDTF">2023-09-27T04:16:32Z</dcterms:created>
  <dcterms:modified xsi:type="dcterms:W3CDTF">2025-04-22T15:11:46Z</dcterms:modified>
</cp:coreProperties>
</file>